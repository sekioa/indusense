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Daytona" panose="020B0604030500040204" pitchFamily="34" charset="0"/>
      <p:regular r:id="rId13"/>
      <p:bold r:id="rId14"/>
      <p:italic r:id="rId15"/>
      <p:boldItalic r:id="rId16"/>
    </p:embeddedFont>
    <p:embeddedFont>
      <p:font typeface="Epilogue" panose="020B0604020202020204" charset="0"/>
      <p:regular r:id="rId17"/>
    </p:embeddedFont>
    <p:embeddedFont>
      <p:font typeface="Fraunces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ROLLAND" userId="419634f9-4820-40b0-b52f-2b20136f8f64" providerId="ADAL" clId="{9111FB5C-E6FC-4E95-9F57-2DBC781FE4AD}"/>
    <pc:docChg chg="undo custSel modSld">
      <pc:chgData name="Xavier ROLLAND" userId="419634f9-4820-40b0-b52f-2b20136f8f64" providerId="ADAL" clId="{9111FB5C-E6FC-4E95-9F57-2DBC781FE4AD}" dt="2026-05-05T11:56:25.506" v="2" actId="478"/>
      <pc:docMkLst>
        <pc:docMk/>
      </pc:docMkLst>
      <pc:sldChg chg="addSp delSp mod">
        <pc:chgData name="Xavier ROLLAND" userId="419634f9-4820-40b0-b52f-2b20136f8f64" providerId="ADAL" clId="{9111FB5C-E6FC-4E95-9F57-2DBC781FE4AD}" dt="2026-05-05T11:56:25.506" v="2" actId="478"/>
        <pc:sldMkLst>
          <pc:docMk/>
          <pc:sldMk cId="0" sldId="256"/>
        </pc:sldMkLst>
        <pc:picChg chg="add del">
          <ac:chgData name="Xavier ROLLAND" userId="419634f9-4820-40b0-b52f-2b20136f8f64" providerId="ADAL" clId="{9111FB5C-E6FC-4E95-9F57-2DBC781FE4AD}" dt="2026-05-05T11:56:25.506" v="2" actId="478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EB9958-B668-12D0-FA67-FA96DD0ED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B40F9-20DB-8B80-1851-E70F74A0A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C0190-F024-46A4-A037-E95329687872}" type="datetimeFigureOut">
              <a:rPr lang="fr-FR" smtClean="0"/>
              <a:t>05/05/2026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DBAF7-C676-42A9-1D05-FC99284B66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56FDE-B966-A00F-144D-97B499554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20442-E7B2-4596-B8EE-465415E414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3663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8461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EAB78-00AA-2AF7-DC18-093ECECCD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3560C117-57C5-4E87-B924-9503BD15D3F0}" type="slidenum">
              <a:rPr lang="fr-FR" smtClean="0"/>
              <a:pPr/>
              <a:t>‹N°›</a:t>
            </a:fld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51E66-4DF9-FB28-B925-450A9FB6E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360D4-90EE-DDA4-0E4B-3F26C8C8D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3B034-B834-8C2B-9CB2-7E82350FDF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5C0BD-45E2-2B34-6818-0D57FB550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B32DB-DCDA-DB2B-9822-8B2E7E55D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F3EEA-AC50-172B-1930-809B1B04E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CCAE3-87CA-2D2F-BEE8-8D978E140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AAAE86-058E-C44C-7F7C-DF69E2E7E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0C117-57C5-4E87-B924-9503BD15D3F0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08990" y="2034302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Sélection du Modèle Optimal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108990" y="3792022"/>
            <a:ext cx="57276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Identifier les clients les plus sensibles aux </a:t>
            </a:r>
            <a:r>
              <a:rPr lang="en-US" sz="1600" i="1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recommandations</a:t>
            </a: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600" i="1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personnalisées</a:t>
            </a: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</a:t>
            </a:r>
            <a:endParaRPr lang="en-U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C45DA-24E0-E8A0-8BF7-1C76D4FA1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" y="924674"/>
            <a:ext cx="7688603" cy="6827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793790" y="169854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Contexte et Enjeux de la Recommandation Personnalisée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4562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Dans le marketing digital, la recommandation personnalisée est clé pour l’engagement et la rentabilité.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074319"/>
            <a:ext cx="4196358" cy="3456638"/>
          </a:xfrm>
          <a:prstGeom prst="roundRect">
            <a:avLst>
              <a:gd name="adj" fmla="val 5956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763310" y="407431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142524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Domaine et Objectif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482203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Optimiser les recommandations en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marketing digital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et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e-commerce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pour cibler les bons clients.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4074319"/>
            <a:ext cx="4196358" cy="3456638"/>
          </a:xfrm>
          <a:prstGeom prst="roundRect">
            <a:avLst>
              <a:gd name="adj" fmla="val 5956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186482" y="407431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565696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Défi Principal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65696" y="482203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Les recommandations génériques saturent les clients et dégradent l’expérience.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40133" y="4074319"/>
            <a:ext cx="4196358" cy="3456638"/>
          </a:xfrm>
          <a:prstGeom prst="roundRect">
            <a:avLst>
              <a:gd name="adj" fmla="val 5956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9609653" y="4074319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9988868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Vision Stratégique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988868" y="4822031"/>
            <a:ext cx="3590330" cy="226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Passer à un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arbitrage prédictif en quasi temps réel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: afficher ou non une recommandation en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quelques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milliseconds grâce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une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solution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d’Intelligence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Artificielle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fr-FR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 recommandation marketing personnalisée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2329" y="490657"/>
            <a:ext cx="6069687" cy="52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Choix des </a:t>
            </a:r>
            <a:r>
              <a:rPr lang="en-US" sz="330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familles</a:t>
            </a: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de </a:t>
            </a:r>
            <a:r>
              <a:rPr lang="en-US" sz="330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modèles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29" y="1347668"/>
            <a:ext cx="7425571" cy="4144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7238" y="2640459"/>
            <a:ext cx="3808333" cy="125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Trois familles d'algorithmes ont été confrontées pour évaluer leur robustesse face au déséquilibre des classes et à l'hétérogénéité des parcours clients 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92329" y="5774531"/>
            <a:ext cx="3798213" cy="1398151"/>
          </a:xfrm>
          <a:prstGeom prst="roundRect">
            <a:avLst>
              <a:gd name="adj" fmla="val 50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668661" y="5950863"/>
            <a:ext cx="2109668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Baseline Linéaire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8661" y="6289834"/>
            <a:ext cx="3445550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Régression Logistique — référence de robustesse simple.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16034" y="5774531"/>
            <a:ext cx="3798213" cy="1398151"/>
          </a:xfrm>
          <a:prstGeom prst="roundRect">
            <a:avLst>
              <a:gd name="adj" fmla="val 50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592366" y="5950863"/>
            <a:ext cx="2109668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Gradient Boosting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592366" y="6289834"/>
            <a:ext cx="3445550" cy="70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CatBoost &amp; LightGBM — capacités avancées face au déséquilibre des classes.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339739" y="5774531"/>
            <a:ext cx="3798332" cy="1398151"/>
          </a:xfrm>
          <a:prstGeom prst="roundRect">
            <a:avLst>
              <a:gd name="adj" fmla="val 50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516070" y="5950863"/>
            <a:ext cx="2109668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Forêts Aléatoires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516070" y="6289834"/>
            <a:ext cx="3445669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Random Forest — confronté à l'hétérogénéité des parcours clients.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6979" y="1215509"/>
            <a:ext cx="7938254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 Precision@5% </a:t>
            </a:r>
            <a:r>
              <a:rPr lang="en-US" sz="335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comme</a:t>
            </a:r>
            <a:r>
              <a:rPr lang="en-US" sz="3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levier de ROI</a:t>
            </a:r>
            <a:endParaRPr lang="en-US" sz="3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79" y="1940957"/>
            <a:ext cx="426482" cy="4264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6979" y="2527816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Chirurgie Marketing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96979" y="2871192"/>
            <a:ext cx="7950041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Isoler les 5% de profils les plus réceptifs pour une efficacité maximale.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79" y="3366849"/>
            <a:ext cx="426482" cy="4264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6979" y="3953708"/>
            <a:ext cx="250567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Optimisation Budgétaire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96979" y="4297085"/>
            <a:ext cx="7950041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Concentrer les ressources sur les clients à haut potentiel, évitant la saturation des segments indifférents.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79" y="5031819"/>
            <a:ext cx="426482" cy="4264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6979" y="5618678"/>
            <a:ext cx="213240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Garantie du ROI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96979" y="5962055"/>
            <a:ext cx="7950041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Transformer un score technique en valeur business directe, assurant la rentabilité de chaque interaction.</a:t>
            </a:r>
            <a:endParaRPr lang="en-US" sz="13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F262966-6B40-7B00-01B9-6AAE840B0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0659" y="502920"/>
            <a:ext cx="8047553" cy="53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Analyse</a:t>
            </a: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comparative des performances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8475249" y="2920039"/>
            <a:ext cx="2121098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Résultat clé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475249" y="3471361"/>
            <a:ext cx="5647492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CatBoost V2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atteint une </a:t>
            </a:r>
            <a:r>
              <a:rPr lang="en-US" sz="1600" b="1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Precision@5% de 0,5822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soit un gain de </a:t>
            </a: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+4,72 points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par rapport à la baseline linéaire.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475249" y="4232301"/>
            <a:ext cx="5647492" cy="1510301"/>
          </a:xfrm>
          <a:prstGeom prst="roundRect">
            <a:avLst>
              <a:gd name="adj" fmla="val 6601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fr-FR" sz="16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913" y="4505622"/>
            <a:ext cx="212050" cy="1696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26627" y="4454279"/>
            <a:ext cx="4926449" cy="711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 gain confirme que la valeur de l'IA se concentre sur la précision du ciblage des segments prioritaires pour maximiser le ROI des campagnes.</a:t>
            </a:r>
            <a:endParaRPr lang="en-US" sz="16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EE473613-144A-8EB5-0135-E418696A8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1AD83FE-A0A0-2A37-CC3A-849F51356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042" y="2599366"/>
            <a:ext cx="6403015" cy="366786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F6CC8E4-FF58-977D-DEE2-4D8248D58E2D}"/>
              </a:ext>
            </a:extLst>
          </p:cNvPr>
          <p:cNvSpPr txBox="1"/>
          <p:nvPr/>
        </p:nvSpPr>
        <p:spPr>
          <a:xfrm>
            <a:off x="1250803" y="1622451"/>
            <a:ext cx="131946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Après optimisation des hyperparamètres, seule la meilleure version de chaque modèle est retenue pour la comparaison de l’indicateur Précision@5%.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3550"/>
            <a:ext cx="63065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Analyse des points </a:t>
            </a:r>
            <a:r>
              <a:rPr lang="en-US" sz="445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clés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623317" y="4114800"/>
            <a:ext cx="12213294" cy="1554956"/>
          </a:xfrm>
          <a:prstGeom prst="roundRect">
            <a:avLst>
              <a:gd name="adj" fmla="val 343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 sz="1100"/>
          </a:p>
        </p:txBody>
      </p:sp>
      <p:sp>
        <p:nvSpPr>
          <p:cNvPr id="4" name="Shape 2"/>
          <p:cNvSpPr/>
          <p:nvPr/>
        </p:nvSpPr>
        <p:spPr>
          <a:xfrm>
            <a:off x="1077590" y="4115723"/>
            <a:ext cx="4066267" cy="1546413"/>
          </a:xfrm>
          <a:prstGeom prst="roundRect">
            <a:avLst>
              <a:gd name="adj" fmla="val 3454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fr-FR" sz="1100"/>
          </a:p>
        </p:txBody>
      </p:sp>
      <p:sp>
        <p:nvSpPr>
          <p:cNvPr id="5" name="Text 3"/>
          <p:cNvSpPr/>
          <p:nvPr/>
        </p:nvSpPr>
        <p:spPr>
          <a:xfrm>
            <a:off x="1208546" y="3569633"/>
            <a:ext cx="2654913" cy="19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Limite du Linéaire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5554" y="4418130"/>
            <a:ext cx="3641489" cy="101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Régression Logistique stagne à </a:t>
            </a: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0,5350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incapable de capturer les interactions non-linéaires complexes des parcours de navigation.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20045" y="4115723"/>
            <a:ext cx="4066379" cy="1546413"/>
          </a:xfrm>
          <a:prstGeom prst="rect">
            <a:avLst/>
          </a:prstGeom>
          <a:solidFill>
            <a:srgbClr val="283157"/>
          </a:solidFill>
          <a:ln/>
        </p:spPr>
        <p:txBody>
          <a:bodyPr/>
          <a:lstStyle/>
          <a:p>
            <a:endParaRPr lang="fr-FR" sz="1100"/>
          </a:p>
        </p:txBody>
      </p:sp>
      <p:sp>
        <p:nvSpPr>
          <p:cNvPr id="8" name="Shape 6"/>
          <p:cNvSpPr/>
          <p:nvPr/>
        </p:nvSpPr>
        <p:spPr>
          <a:xfrm>
            <a:off x="5128618" y="4115723"/>
            <a:ext cx="45719" cy="1546413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fr-FR" sz="1100"/>
          </a:p>
        </p:txBody>
      </p:sp>
      <p:sp>
        <p:nvSpPr>
          <p:cNvPr id="9" name="Text 7"/>
          <p:cNvSpPr/>
          <p:nvPr/>
        </p:nvSpPr>
        <p:spPr>
          <a:xfrm>
            <a:off x="5550993" y="3569633"/>
            <a:ext cx="2654913" cy="19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Instabilité des Forêts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18009" y="4258666"/>
            <a:ext cx="3641600" cy="81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Random Forest V1 : </a:t>
            </a: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0,5690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→ V2 : </a:t>
            </a: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0,5595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Signe d'overfitting : le modèle apprend le bruit au lieu du signal d'achat.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762612" y="4115723"/>
            <a:ext cx="4066379" cy="1546413"/>
          </a:xfrm>
          <a:prstGeom prst="rect">
            <a:avLst/>
          </a:prstGeom>
          <a:solidFill>
            <a:srgbClr val="283157"/>
          </a:solidFill>
          <a:ln/>
        </p:spPr>
        <p:txBody>
          <a:bodyPr/>
          <a:lstStyle/>
          <a:p>
            <a:endParaRPr lang="fr-FR" sz="1100"/>
          </a:p>
        </p:txBody>
      </p:sp>
      <p:sp>
        <p:nvSpPr>
          <p:cNvPr id="12" name="Shape 10"/>
          <p:cNvSpPr/>
          <p:nvPr/>
        </p:nvSpPr>
        <p:spPr>
          <a:xfrm>
            <a:off x="9471185" y="4115723"/>
            <a:ext cx="45719" cy="1546413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fr-FR" sz="1100"/>
          </a:p>
        </p:txBody>
      </p:sp>
      <p:sp>
        <p:nvSpPr>
          <p:cNvPr id="13" name="Text 11"/>
          <p:cNvSpPr/>
          <p:nvPr/>
        </p:nvSpPr>
        <p:spPr>
          <a:xfrm>
            <a:off x="9920692" y="3569633"/>
            <a:ext cx="3054382" cy="19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Supériorité CatBoost V2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60576" y="4258666"/>
            <a:ext cx="3641600" cy="81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1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Precision@5% = 0,5822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gain de </a:t>
            </a:r>
            <a:r>
              <a:rPr lang="en-US" sz="1100" b="1" dirty="0">
                <a:solidFill>
                  <a:srgbClr val="AAE4FE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+4,72 points</a:t>
            </a: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vs baseline. Le ciblage le plus chirurgical sur le segment prioritaire.</a:t>
            </a:r>
            <a:endParaRPr lang="en-US" sz="11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D821770A-6EF3-3D04-8953-E1D5E6453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3244"/>
            <a:ext cx="10332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Pourquoi CatBoost surpasse les autres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55652"/>
            <a:ext cx="4196358" cy="3854291"/>
          </a:xfrm>
          <a:prstGeom prst="roundRect">
            <a:avLst>
              <a:gd name="adj" fmla="val 2472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4270" y="238613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21888" y="2509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2933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Signaux Faibles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78380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CatBoost croise les variables (temps, visites, catégorie) pour détecter des micro-segments invisibles au modèle linéaire, qui stagne à 53,50%.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355652"/>
            <a:ext cx="4196358" cy="3854291"/>
          </a:xfrm>
          <a:prstGeom prst="roundRect">
            <a:avLst>
              <a:gd name="adj" fmla="val 2472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247442" y="238613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145060" y="2509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29338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Robustesse aux Embeddings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13813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Ses algorithmes de régularisation séparent mieux le signal d'achat du bruit dans les vecteurs compressés de l'espace latent (dim=16).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355652"/>
            <a:ext cx="4196358" cy="3854291"/>
          </a:xfrm>
          <a:prstGeom prst="roundRect">
            <a:avLst>
              <a:gd name="adj" fmla="val 2472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670613" y="238613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1568232" y="2509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293388"/>
            <a:ext cx="33649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Résistance à l'Overfitting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378380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Avec 3 000 itérations et LR=0,015, CatBoost V2 apprend lentement et finement, là où Random Forest V2 redescend à 55,95% par sur-apprentissage.</a:t>
            </a:r>
            <a:endParaRPr lang="en-US" sz="1750" dirty="0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8FAB614A-21FC-199A-015B-3296263D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8306" y="1210270"/>
            <a:ext cx="8739307" cy="509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Optimisation des </a:t>
            </a:r>
            <a:r>
              <a:rPr lang="en-US" sz="320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hyperparamètres</a:t>
            </a:r>
            <a:r>
              <a:rPr lang="en-US" sz="3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CatBoost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09609" y="1979557"/>
            <a:ext cx="203870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Évolution V1 → V2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9609" y="2384941"/>
            <a:ext cx="4530903" cy="44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Daytona" panose="020F0502020204030204" pitchFamily="34" charset="0"/>
                <a:ea typeface="Epilogue" pitchFamily="34" charset="-122"/>
                <a:cs typeface="Epilogue" pitchFamily="34" charset="-120"/>
              </a:rPr>
              <a:t>Trois leviers ont permis d'atteindre la Precision@5% de </a:t>
            </a:r>
            <a:r>
              <a:rPr lang="en-US" b="1" dirty="0">
                <a:solidFill>
                  <a:srgbClr val="8C98CA"/>
                </a:solidFill>
                <a:latin typeface="Daytona" panose="020F0502020204030204" pitchFamily="34" charset="0"/>
                <a:ea typeface="Epilogue" pitchFamily="34" charset="-122"/>
                <a:cs typeface="Epilogue" pitchFamily="34" charset="-120"/>
              </a:rPr>
              <a:t>0,5822</a:t>
            </a:r>
            <a:r>
              <a:rPr lang="en-US" dirty="0">
                <a:solidFill>
                  <a:srgbClr val="EBECEF"/>
                </a:solidFill>
                <a:latin typeface="Daytona" panose="020F0502020204030204" pitchFamily="34" charset="0"/>
                <a:ea typeface="Epilogue" pitchFamily="34" charset="-122"/>
                <a:cs typeface="Epilogue" pitchFamily="34" charset="-120"/>
              </a:rPr>
              <a:t> :</a:t>
            </a:r>
            <a:endParaRPr lang="en-US" dirty="0">
              <a:latin typeface="Daytona" panose="020F050202020403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442" y="3236907"/>
            <a:ext cx="244554" cy="2445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66191" y="3231788"/>
            <a:ext cx="203870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Learning Rate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66191" y="3603739"/>
            <a:ext cx="3340064" cy="44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Réduit de 0,05 à </a:t>
            </a: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0,015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stabilise les prédictions les plus confiantes.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442" y="4542472"/>
            <a:ext cx="244554" cy="2445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6191" y="4537353"/>
            <a:ext cx="203870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Profondeur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766191" y="4909304"/>
            <a:ext cx="3340064" cy="67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Portée à </a:t>
            </a: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modélise des interactions complexes pour isoler les signaux faibles.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7442" y="6068375"/>
            <a:ext cx="244554" cy="2445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66191" y="6063255"/>
            <a:ext cx="203870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Itérations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766190" y="6435206"/>
            <a:ext cx="3340065" cy="67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Augmentées à </a:t>
            </a:r>
            <a:r>
              <a:rPr lang="en-US" sz="16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3 000</a:t>
            </a: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compense la lenteur du LR pour une convergence optimale.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936" y="2183725"/>
            <a:ext cx="8381379" cy="4677846"/>
          </a:xfrm>
          <a:prstGeom prst="rect">
            <a:avLst/>
          </a:prstGeom>
        </p:spPr>
      </p:pic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17AC25E3-7BC4-1BDF-FFD6-3F3FC6B52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38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Recommandation</a:t>
            </a: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</a:t>
            </a:r>
            <a:r>
              <a:rPr lang="en-US" sz="445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stratégique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21531"/>
            <a:ext cx="7556421" cy="3717846"/>
          </a:xfrm>
          <a:prstGeom prst="roundRect">
            <a:avLst>
              <a:gd name="adj" fmla="val 256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801410" y="2729151"/>
            <a:ext cx="3770590" cy="2032754"/>
          </a:xfrm>
          <a:prstGeom prst="roundRect">
            <a:avLst>
              <a:gd name="adj" fmla="val 4687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028224" y="2955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Modèle Retenu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6383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CatBoost V2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est sélectionné comme modèle de production.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572000" y="2729151"/>
            <a:ext cx="3770590" cy="2032754"/>
          </a:xfrm>
          <a:prstGeom prst="rect">
            <a:avLst/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0" y="2729151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798814" y="29559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98814" y="3446383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Precision@5% de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0,5822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le plus chirurgical pour identifier les acheteurs.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761905"/>
            <a:ext cx="7541181" cy="1669852"/>
          </a:xfrm>
          <a:prstGeom prst="rect">
            <a:avLst/>
          </a:prstGeom>
          <a:solidFill>
            <a:srgbClr val="2831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801410" y="4761905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1028224" y="49887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 Business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5479137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Meilleure garantie de ROI en concentrant les efforts sur les profils à plus haute probabilité de conversion.</a:t>
            </a:r>
            <a:endParaRPr lang="en-US" sz="17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D8986278-C2FC-BB44-9C7F-B522D966C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30" y="7526357"/>
            <a:ext cx="478155" cy="424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2534</TotalTime>
  <Words>598</Words>
  <Application>Microsoft Office PowerPoint</Application>
  <PresentationFormat>Personnalisé</PresentationFormat>
  <Paragraphs>72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Daytona</vt:lpstr>
      <vt:lpstr>Epilogue</vt:lpstr>
      <vt:lpstr>Calibri</vt:lpstr>
      <vt:lpstr>Fraunces Medium</vt:lpstr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Naima Bouchahdane-Semoune</dc:creator>
  <cp:lastModifiedBy>Xavier ROLLAND</cp:lastModifiedBy>
  <cp:revision>2</cp:revision>
  <dcterms:created xsi:type="dcterms:W3CDTF">2026-03-29T21:58:36Z</dcterms:created>
  <dcterms:modified xsi:type="dcterms:W3CDTF">2026-05-05T11:56:31Z</dcterms:modified>
</cp:coreProperties>
</file>